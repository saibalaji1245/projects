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72"/>
      </p:cViewPr>
      <p:guideLst>
        <p:guide orient="horz" pos="2140"/>
        <p:guide pos="38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Balaji Vemula" userId="d2cfa5bd75d1bad2" providerId="LiveId" clId="{B50EEF97-B048-47FE-B611-C61EFC6456C6}"/>
    <pc:docChg chg="custSel modSld">
      <pc:chgData name="Sai Balaji Vemula" userId="d2cfa5bd75d1bad2" providerId="LiveId" clId="{B50EEF97-B048-47FE-B611-C61EFC6456C6}" dt="2025-12-30T05:40:42.694" v="69" actId="1038"/>
      <pc:docMkLst>
        <pc:docMk/>
      </pc:docMkLst>
      <pc:sldChg chg="modSp mod">
        <pc:chgData name="Sai Balaji Vemula" userId="d2cfa5bd75d1bad2" providerId="LiveId" clId="{B50EEF97-B048-47FE-B611-C61EFC6456C6}" dt="2025-12-30T04:55:00.607" v="68" actId="20577"/>
        <pc:sldMkLst>
          <pc:docMk/>
          <pc:sldMk cId="0" sldId="257"/>
        </pc:sldMkLst>
        <pc:spChg chg="mod">
          <ac:chgData name="Sai Balaji Vemula" userId="d2cfa5bd75d1bad2" providerId="LiveId" clId="{B50EEF97-B048-47FE-B611-C61EFC6456C6}" dt="2025-12-30T04:55:00.607" v="68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Sai Balaji Vemula" userId="d2cfa5bd75d1bad2" providerId="LiveId" clId="{B50EEF97-B048-47FE-B611-C61EFC6456C6}" dt="2025-12-30T04:54:47.566" v="39" actId="20577"/>
        <pc:sldMkLst>
          <pc:docMk/>
          <pc:sldMk cId="0" sldId="258"/>
        </pc:sldMkLst>
        <pc:spChg chg="mod">
          <ac:chgData name="Sai Balaji Vemula" userId="d2cfa5bd75d1bad2" providerId="LiveId" clId="{B50EEF97-B048-47FE-B611-C61EFC6456C6}" dt="2025-12-30T04:54:47.566" v="39" actId="20577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Sai Balaji Vemula" userId="d2cfa5bd75d1bad2" providerId="LiveId" clId="{B50EEF97-B048-47FE-B611-C61EFC6456C6}" dt="2025-12-30T05:40:42.694" v="69" actId="1038"/>
        <pc:sldMkLst>
          <pc:docMk/>
          <pc:sldMk cId="0" sldId="260"/>
        </pc:sldMkLst>
        <pc:spChg chg="mod">
          <ac:chgData name="Sai Balaji Vemula" userId="d2cfa5bd75d1bad2" providerId="LiveId" clId="{B50EEF97-B048-47FE-B611-C61EFC6456C6}" dt="2025-12-30T05:40:42.694" v="69" actId="1038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2000" t="-2000" b="8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31B98-7DAA-4F67-B12F-4F673C8BF44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C68A8-5216-4190-A4A6-D33F30E85D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/>
          <p:nvPr/>
        </p:nvSpPr>
        <p:spPr>
          <a:xfrm>
            <a:off x="228599" y="571500"/>
            <a:ext cx="11707761" cy="6019800"/>
          </a:xfrm>
          <a:prstGeom prst="rect">
            <a:avLst/>
          </a:prstGeom>
          <a:noFill/>
        </p:spPr>
        <p:txBody>
          <a:bodyPr>
            <a:normAutofit fontScale="4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2285" b="1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BACHELOR OF TECHNOLOGY 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sz="2285" b="1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 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sz="2285" b="1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Artificial Intelligence and Machine Learning</a:t>
            </a:r>
          </a:p>
          <a:p>
            <a:pPr algn="ctr">
              <a:buFont typeface="Arial" panose="020B0604020202020204" pitchFamily="34" charset="0"/>
              <a:buNone/>
            </a:pPr>
            <a:endParaRPr lang="en-US" sz="1700" b="1" dirty="0">
              <a:solidFill>
                <a:srgbClr val="00206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</a:t>
            </a:r>
            <a:r>
              <a:rPr lang="en-US" sz="1600" b="1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343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 </a:t>
            </a:r>
            <a:r>
              <a:rPr lang="en-US" sz="34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:Theta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3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70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Project Title : </a:t>
            </a:r>
            <a:r>
              <a:rPr lang="en-US" sz="4705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  <a:sym typeface="+mn-ea"/>
              </a:rPr>
              <a:t>Assistive Vision</a:t>
            </a:r>
          </a:p>
          <a:p>
            <a:pPr>
              <a:buNone/>
            </a:pPr>
            <a:r>
              <a:rPr lang="en-US" sz="4235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00503000000020004" pitchFamily="34" charset="-122"/>
                <a:cs typeface="Times New Roman" panose="02020603050405020304" pitchFamily="18" charset="0"/>
                <a:sym typeface="+mn-ea"/>
              </a:rPr>
              <a:t>An Intelligent Mobility Assistant for Visually Impaired Pedestrians</a:t>
            </a:r>
            <a:endParaRPr lang="en-US" sz="42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3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1600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  <a:r>
              <a:rPr lang="en-US" sz="2665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sz="3295" b="1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Batch Number</a:t>
            </a:r>
            <a:r>
              <a:rPr lang="en-US" sz="3295" dirty="0">
                <a:solidFill>
                  <a:srgbClr val="0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:163</a:t>
            </a:r>
          </a:p>
          <a:p>
            <a:pPr algn="ctr">
              <a:buNone/>
            </a:pPr>
            <a:r>
              <a:rPr lang="en-US" sz="329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                                                        </a:t>
            </a:r>
            <a:r>
              <a:rPr lang="en-US" sz="3295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Roll Numbers</a:t>
            </a:r>
            <a:r>
              <a:rPr lang="en-US" sz="329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266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:2211CS020676</a:t>
            </a:r>
          </a:p>
          <a:p>
            <a:pPr algn="ctr">
              <a:buNone/>
            </a:pPr>
            <a:r>
              <a:rPr lang="en-US" sz="266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2211CS020684</a:t>
            </a:r>
          </a:p>
          <a:p>
            <a:pPr algn="ctr">
              <a:buNone/>
            </a:pPr>
            <a:r>
              <a:rPr lang="en-US" sz="266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2211CS020692</a:t>
            </a:r>
          </a:p>
          <a:p>
            <a:pPr algn="ctr">
              <a:buNone/>
            </a:pPr>
            <a:r>
              <a:rPr lang="en-US" sz="266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2211CS020693</a:t>
            </a:r>
          </a:p>
          <a:p>
            <a:pPr algn="ctr">
              <a:buFont typeface="Arial" panose="020B0604020202020204" pitchFamily="34" charset="0"/>
              <a:buNone/>
            </a:pPr>
            <a:endParaRPr lang="en-US" sz="2665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7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					 			</a:t>
            </a:r>
            <a:r>
              <a:rPr lang="en-US" sz="329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95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Project Guide</a:t>
            </a:r>
            <a:r>
              <a:rPr lang="en-US" sz="329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r>
              <a:rPr lang="en-US" sz="2825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Asst.Prof</a:t>
            </a:r>
            <a:r>
              <a:rPr lang="en-US" sz="2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SK.Mujafar Ahmed</a:t>
            </a:r>
            <a:endParaRPr lang="en-US" sz="2825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2665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266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>
              <a:buFont typeface="Arial" panose="020B0604020202020204" pitchFamily="34" charset="0"/>
              <a:buNone/>
            </a:pPr>
            <a:endParaRPr lang="en-US" sz="2200" b="1" dirty="0">
              <a:solidFill>
                <a:srgbClr val="7030A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sz="2200" b="1" dirty="0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AIML, School of Engineering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sz="1700" b="1" dirty="0" err="1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Malla</a:t>
            </a:r>
            <a:r>
              <a:rPr lang="en-US" sz="1700" b="1" dirty="0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Reddy University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026" name="Picture 2" descr="No photo description availab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544" y="4448433"/>
            <a:ext cx="1619250" cy="118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456565" y="1342390"/>
            <a:ext cx="8251190" cy="4635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</p:txBody>
      </p:sp>
      <p:sp>
        <p:nvSpPr>
          <p:cNvPr id="5" name="Content Placeholder 2"/>
          <p:cNvSpPr txBox="1"/>
          <p:nvPr/>
        </p:nvSpPr>
        <p:spPr>
          <a:xfrm>
            <a:off x="813435" y="2068195"/>
            <a:ext cx="9691370" cy="4649470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/>
            </a:pPr>
            <a:r>
              <a:rPr lang="en-US" sz="9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Objectives of the Project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Scope of the Project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Planning and Research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Software Requirements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Hardware Requirements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 Selection and Architecture</a:t>
            </a:r>
          </a:p>
          <a:p>
            <a:pPr marL="0" indent="0">
              <a:lnSpc>
                <a:spcPct val="120000"/>
              </a:lnSpc>
              <a:buNone/>
            </a:pP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altLang="en-US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endParaRPr lang="en-IN" altLang="en-US" dirty="0">
              <a:solidFill>
                <a:schemeClr val="tx2"/>
              </a:solidFill>
              <a:latin typeface="Bookman Old Style" panose="02050604050505020204" pitchFamily="18" charset="0"/>
            </a:endParaRPr>
          </a:p>
          <a:p>
            <a:endParaRPr lang="en-US" dirty="0">
              <a:solidFill>
                <a:schemeClr val="tx2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39115" y="2231390"/>
            <a:ext cx="10963910" cy="38995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Visually impaired people face challenges in navigating safely due to lack of real-time environmental awareness.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Existing assistive tools offer limited support in detecting dynamic obstacles and traffic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This project, “Assistive Vision – An Intelligent Mobility Assistant for Visually Impaired Pedestrians”, uses AI and Computer Vision to address this challenge.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/>
              <a:t>And converts this information into voice-based guidance through a lightweight, low-latency, mobile-friendly system, thereby improving the safety and independence of visually impaired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884" y="1383703"/>
            <a:ext cx="609407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5170" y="2341880"/>
            <a:ext cx="10855325" cy="33159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Visually impaired individuals lack real-time awareness of surrounding obstacles, vehicles, and pedestrians.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assistive tools provide limited range and no contextual or directional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intelligent systems suffer from high latency, poor adaptability, and limited real-time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lightweight, low-latency AI-driven assistive system capable of real-time object detection and audio guidance for visually impaired pedestrians.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1495" y="1501775"/>
            <a:ext cx="6073775" cy="528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algn="l" rtl="0" eaLnBrk="1" latinLnBrk="0" hangingPunct="1"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3929" y="2202461"/>
            <a:ext cx="10301468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assistive mobility system that enables safe and independent navigation for visually impaired individuals.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real-time detection and classification of obstacles, vehicles, pedestrians, and road elements using deep learning–based computer vision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accurate, timely, and context-aware audio guidance by converting detected visual information into meaningful voice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accessible, multilingual, and user-friendly system that enhances safety and confidence of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957" y="1286510"/>
            <a:ext cx="6146800" cy="575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algn="l" rtl="0" eaLnBrk="1" latinLnBrk="0" hangingPunct="1">
              <a:buNone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PROJECT:</a:t>
            </a:r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2615" y="1946910"/>
            <a:ext cx="10532110" cy="51346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scope of this project includes to</a:t>
            </a:r>
            <a:r>
              <a:rPr lang="en-US" altLang="en-US" sz="2400" dirty="0"/>
              <a:t> design and implement  an AI-powered assistive mobility system aimed at helping visually impaired individuals navigate safely in outdoor and indoor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It includes real-time visual perception using a camera-based input system to detect obstacles, pedestrians, vehicles, and common road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The system integrates text-to-speech–based audio guidance, providing users with meaningful, directional, and context-aware voice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The scope involves performance evaluation based on accuracy, response time, and usability to ensure reliable real-time operation.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Future extensions such as GPS-based navigation, wearable integration, and expanded object categories are identified but lie outside the current implementation scope.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03250" y="1301750"/>
            <a:ext cx="6486525" cy="513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algn="l" rtl="0" eaLnBrk="1" latinLnBrk="0" hangingPunct="1">
              <a:buNone/>
            </a:pPr>
            <a:r>
              <a:rPr lang="en-US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SCOPE OF THE PROJECT:</a:t>
            </a:r>
            <a:endParaRPr lang="en-IN" sz="2400" dirty="0"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29205" y="1875099"/>
            <a:ext cx="10961225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Studied challenges faced by visually impaired pedestrians and reviewed existing assistive technologies to identify the need for real-time object detection with audio guidance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Researched AI and computer vision techniques and selected YOLOv8 for real-time object detection due to its speed, accuracy, and suitability for assistive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Planned and created a custom dataset using Roboflow, including pedestrians, vehicles, and obstacles, with preprocessing and augmentation to improve model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Designed an agile-based plan to integrate object detection, text-to-speech audio feedback, and a web-based interface in iterative phases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Planned systematic testing to reduce latency, improve accuracy, and ensure usability, followed by final deployment and complete project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9205" y="139291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PROJECT PLANNING AND RESEARCH</a:t>
            </a:r>
            <a:endParaRPr lang="en-IN" dirty="0"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4483" y="2274838"/>
            <a:ext cx="9850054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Deep Learning Models: YOLOv8, ResNet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Programming Languages: Python,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Frameworks: TensorFlow, OpenCV, PyTorch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Audio Engine: gTTS , SpeechRecognition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/>
              <a:t>APIs: Web Speech API (SpeechRecognition &amp; SpeechSynthesis)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5505" y="174251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b="1" kern="1200" dirty="0">
                <a:solidFill>
                  <a:srgbClr val="0070C0"/>
                </a:solidFill>
                <a:effectLst/>
                <a:latin typeface="Bookman Old Style" panose="02050604050505020204" pitchFamily="18" charset="0"/>
                <a:ea typeface="+mn-ea"/>
                <a:cs typeface="+mn-cs"/>
              </a:rPr>
              <a:t>SOFTWARE REQUIREMENTS</a:t>
            </a:r>
            <a:endParaRPr lang="en-IN" dirty="0"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56526" y="2146574"/>
            <a:ext cx="82267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Processor: Intel i5 or equivalent processor or higher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RAM: Minimum 8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Storage: At least 20 GB of free disk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Display: Minimum screen resolution of 1024 × 768 pixels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Internet: Required for downloading datasets, libraries, and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6526" y="177724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HARDWARE REQUIREMENTS</a:t>
            </a:r>
            <a:endParaRPr lang="en-IN" dirty="0"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64870" y="2179955"/>
            <a:ext cx="9872980" cy="45739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b="1" dirty="0"/>
              <a:t>Model Evaluation and Comparison</a:t>
            </a:r>
            <a:r>
              <a:rPr lang="en-IN" altLang="en-US" b="1" dirty="0"/>
              <a:t>: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dirty="0"/>
              <a:t>Different object detection models such as SSD, Faster R-CNN, and YOLO were studied and compared based on accuracy, speed, and real-time performance.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 dirty="0"/>
              <a:t>Selection of YOLO Model</a:t>
            </a:r>
            <a:r>
              <a:rPr lang="en-IN" altLang="en-US" b="1" dirty="0"/>
              <a:t>:</a:t>
            </a:r>
            <a:endParaRPr lang="en-US" altLang="en-US" b="1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dirty="0"/>
              <a:t>YOLOv8 was selected as the most suitable model because of its high detection accuracy, low latency, and ability to perform real-time object detection for pedestrian environments.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 dirty="0"/>
              <a:t>Planning Dataset Requirements</a:t>
            </a:r>
            <a:r>
              <a:rPr lang="en-IN" altLang="en-US" b="1" dirty="0"/>
              <a:t>:</a:t>
            </a:r>
            <a:endParaRPr lang="en-US" altLang="en-US" b="1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dirty="0"/>
              <a:t>The model planning included identifying relevant object classes such as pedestrians, vehicles, obstacles, and signals, and preparing a balanced dataset for training.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 dirty="0"/>
              <a:t>Training and Optimization Strategy</a:t>
            </a:r>
            <a:r>
              <a:rPr lang="en-IN" altLang="en-US" b="1" dirty="0"/>
              <a:t>:</a:t>
            </a:r>
            <a:endParaRPr lang="en-US" altLang="en-US" b="1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dirty="0"/>
              <a:t>Planned multiple training iterations with data augmentation, hyperparameter tuning, and validation to improve detection accuracy under different lighting and environmental conditions.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 dirty="0"/>
              <a:t>Integration and Deployment Planning</a:t>
            </a:r>
            <a:r>
              <a:rPr lang="en-IN" altLang="en-US" b="1" dirty="0"/>
              <a:t>:</a:t>
            </a:r>
            <a:endParaRPr lang="en-US" altLang="en-US" b="1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dirty="0"/>
              <a:t>The model was planned to be integrated with a text-to-speech system and a web-based interface to provide real-time audio feedback for visually impaired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549" y="1742518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MODEL </a:t>
            </a:r>
            <a:r>
              <a:rPr lang="en-US" sz="1800" b="1" kern="1200" dirty="0">
                <a:solidFill>
                  <a:srgbClr val="0070C0"/>
                </a:solidFill>
                <a:effectLst/>
                <a:latin typeface="Bookman Old Style" panose="02050604050505020204" pitchFamily="18" charset="0"/>
                <a:ea typeface="+mn-ea"/>
                <a:cs typeface="+mn-cs"/>
              </a:rPr>
              <a:t>SELECTION AND PLANNING</a:t>
            </a:r>
            <a:endParaRPr lang="en-IN" dirty="0"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02489" y="140685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MODEL ARCHITECTURE</a:t>
            </a:r>
            <a:endParaRPr lang="en-IN" dirty="0">
              <a:effectLst/>
            </a:endParaRPr>
          </a:p>
        </p:txBody>
      </p:sp>
      <p:pic>
        <p:nvPicPr>
          <p:cNvPr id="2" name="Picture 1" descr="Process-flow-diagram-of-the-mobile-assistive-system-for-blind-or-visually-impaired-peop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880" y="1776095"/>
            <a:ext cx="9544050" cy="462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832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Omkar Jagan</dc:creator>
  <cp:lastModifiedBy>Sai Balaji Vemula</cp:lastModifiedBy>
  <cp:revision>50</cp:revision>
  <dcterms:created xsi:type="dcterms:W3CDTF">2023-03-16T15:58:00Z</dcterms:created>
  <dcterms:modified xsi:type="dcterms:W3CDTF">2025-12-30T05:40:51Z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E8A6324685414D7D86C6F3DE7DC2C36B_13</vt:lpwstr>
  </property>
  <property fmtid="{D5CDD505-2E9C-101B-9397-08002B2CF9AE}" pid="3" name="KSOProductBuildVer">
    <vt:lpwstr>1033-12.2.0.23196</vt:lpwstr>
  </property>
</Properties>
</file>